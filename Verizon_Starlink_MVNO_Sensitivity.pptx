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31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 profit per Starlink sub = W − (1 − x) × $22, where W is Verizon's wholesale profit per MVNO sub and x is the share of Starlink subs taken from AT&amp;T and T-Mobile. Live model: Verizon_Starlink_MVNO_Sensitivity.xlsx.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 profit per Starlink sub = W − (1 − x) × $22, where W is Verizon's wholesale profit per MVNO sub and x is the share of Starlink subs taken from AT&amp;T and T-Mobile. Live model: Verizon_Starlink_MVNO_Sensitivity.xlsx.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</a:rPr>
              <a:t>A Verizon MVNO deal with Starlink pays off when most Starlink subs come from AT&amp;T and T-Mobile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1155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Incremental Verizon profit per Starlink Mobile sub ($ per month), by wholesale profit per MVNO sub and where Starlink's subs come from</a:t>
            </a:r>
            <a:endParaRPr lang="en-US" sz="1300" dirty="0"/>
          </a:p>
        </p:txBody>
      </p:sp>
      <p:sp>
        <p:nvSpPr>
          <p:cNvPr id="4" name="Column axis label"/>
          <p:cNvSpPr txBox="1"/>
          <p:nvPr/>
        </p:nvSpPr>
        <p:spPr>
          <a:xfrm>
            <a:off x="1600200" y="1444752"/>
            <a:ext cx="5266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</a:rPr>
              <a:t>% of Starlink Mobile subs taken from AT&amp;T + T-Mobile  →</a:t>
            </a:r>
            <a:endParaRPr lang="en-US" sz="1200" dirty="0"/>
          </a:p>
        </p:txBody>
      </p:sp>
      <p:graphicFrame>
        <p:nvGraphicFramePr>
          <p:cNvPr id="5" name="Sensitiv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7324344" cy="36850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Wholesale profit per sub ($/mo) 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Breakeven % from AT&amp;T/TMO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($10.4)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F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($9.4)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2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B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6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8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2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3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A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D5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A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7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9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2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D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9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8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9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D2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B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C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4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D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6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F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8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A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3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5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E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7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D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8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9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E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3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5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Fair share note"/>
          <p:cNvSpPr txBox="1"/>
          <p:nvPr/>
        </p:nvSpPr>
        <p:spPr>
          <a:xfrm>
            <a:off x="457200" y="5532120"/>
            <a:ext cx="7287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</a:rPr>
              <a:t>Fair share: </a:t>
            </a:r>
            <a:r>
              <a:rPr lang="en-US" sz="1100" dirty="0">
                <a:solidFill>
                  <a:srgbClr val="595959"/>
                </a:solidFill>
              </a:rPr>
              <a:t>if Starlink takes subs in proportion to each carrier's base, ~67% come from AT&amp;T and T-Mobile.</a:t>
            </a:r>
            <a:endParaRPr lang="en-US" sz="1100" dirty="0"/>
          </a:p>
        </p:txBody>
      </p:sp>
      <p:sp>
        <p:nvSpPr>
          <p:cNvPr id="7" name="What each cell shows"/>
          <p:cNvSpPr txBox="1"/>
          <p:nvPr/>
        </p:nvSpPr>
        <p:spPr>
          <a:xfrm>
            <a:off x="8092440" y="1444752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What each cell shows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</a:rPr>
              <a:t>Verizon's net monthly profit per Starlink Mobile sub if it hosts the MVNO: the wholesale profit it earns, minus the retail profit it gives up on subs that leave Verizon for Starlink.</a:t>
            </a:r>
            <a:endParaRPr lang="en-US" sz="1200" dirty="0"/>
          </a:p>
        </p:txBody>
      </p:sp>
      <p:sp>
        <p:nvSpPr>
          <p:cNvPr id="8" name="Axes"/>
          <p:cNvSpPr txBox="1"/>
          <p:nvPr/>
        </p:nvSpPr>
        <p:spPr>
          <a:xfrm>
            <a:off x="8092440" y="2450592"/>
            <a:ext cx="3639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Axes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</a:rPr>
              <a:t>Rows: Verizon's profit per wholesale sub per month ($5–15). Columns: share of Starlink's subs won from AT&amp;T and T-Mobile; the rest come from Verizon. Last column: the share needed to break even.</a:t>
            </a:r>
            <a:endParaRPr lang="en-US" sz="1200" dirty="0"/>
          </a:p>
        </p:txBody>
      </p:sp>
      <p:sp>
        <p:nvSpPr>
          <p:cNvPr id="9" name="Color key head"/>
          <p:cNvSpPr txBox="1"/>
          <p:nvPr/>
        </p:nvSpPr>
        <p:spPr>
          <a:xfrm>
            <a:off x="8092440" y="359359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</a:rPr>
              <a:t>Color key</a:t>
            </a:r>
            <a:endParaRPr lang="en-US" sz="1200" dirty="0"/>
          </a:p>
        </p:txBody>
      </p:sp>
      <p:sp>
        <p:nvSpPr>
          <p:cNvPr id="10" name="Swatch 1"/>
          <p:cNvSpPr/>
          <p:nvPr/>
        </p:nvSpPr>
        <p:spPr>
          <a:xfrm>
            <a:off x="8092440" y="3895344"/>
            <a:ext cx="274320" cy="164592"/>
          </a:xfrm>
          <a:prstGeom prst="rect">
            <a:avLst/>
          </a:prstGeom>
          <a:solidFill>
            <a:srgbClr val="63BE7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Key 1"/>
          <p:cNvSpPr txBox="1"/>
          <p:nvPr/>
        </p:nvSpPr>
        <p:spPr>
          <a:xfrm>
            <a:off x="8458200" y="386791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Accretive: wholesale profit exceeds lost retail profit</a:t>
            </a:r>
            <a:endParaRPr lang="en-US" sz="1050" dirty="0"/>
          </a:p>
        </p:txBody>
      </p:sp>
      <p:sp>
        <p:nvSpPr>
          <p:cNvPr id="12" name="Swatch 2"/>
          <p:cNvSpPr/>
          <p:nvPr/>
        </p:nvSpPr>
        <p:spPr>
          <a:xfrm>
            <a:off x="8092440" y="4151376"/>
            <a:ext cx="27432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ey 2"/>
          <p:cNvSpPr txBox="1"/>
          <p:nvPr/>
        </p:nvSpPr>
        <p:spPr>
          <a:xfrm>
            <a:off x="8458200" y="412394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Breakeven</a:t>
            </a:r>
            <a:endParaRPr lang="en-US" sz="1050" dirty="0"/>
          </a:p>
        </p:txBody>
      </p:sp>
      <p:sp>
        <p:nvSpPr>
          <p:cNvPr id="14" name="Swatch 3"/>
          <p:cNvSpPr/>
          <p:nvPr/>
        </p:nvSpPr>
        <p:spPr>
          <a:xfrm>
            <a:off x="8092440" y="4407408"/>
            <a:ext cx="274320" cy="164592"/>
          </a:xfrm>
          <a:prstGeom prst="rect">
            <a:avLst/>
          </a:prstGeom>
          <a:solidFill>
            <a:srgbClr val="F8696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Key 3"/>
          <p:cNvSpPr txBox="1"/>
          <p:nvPr/>
        </p:nvSpPr>
        <p:spPr>
          <a:xfrm>
            <a:off x="8458200" y="437997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Dilutive: Verizon loses more than it earns</a:t>
            </a:r>
            <a:endParaRPr lang="en-US" sz="1050" dirty="0"/>
          </a:p>
        </p:txBody>
      </p:sp>
      <p:sp>
        <p:nvSpPr>
          <p:cNvPr id="16" name="Shading note"/>
          <p:cNvSpPr txBox="1"/>
          <p:nvPr/>
        </p:nvSpPr>
        <p:spPr>
          <a:xfrm>
            <a:off x="8092440" y="46451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</a:rPr>
              <a:t>Darker shading = larger gain or loss.</a:t>
            </a:r>
            <a:endParaRPr lang="en-US" sz="1000" dirty="0"/>
          </a:p>
        </p:txBody>
      </p:sp>
      <p:sp>
        <p:nvSpPr>
          <p:cNvPr id="17" name="Assumptions"/>
          <p:cNvSpPr txBox="1"/>
          <p:nvPr/>
        </p:nvSpPr>
        <p:spPr>
          <a:xfrm>
            <a:off x="8092440" y="4937760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Assumptions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</a:rPr>
              <a:t>~$55 Verizon postpaid ARPU × 40% EBITDA margin = ~$22 of profit per retail sub per month. Wholesale revenue carries no incremental cost, so it drops straight to profit.</a:t>
            </a:r>
            <a:endParaRPr lang="en-US" sz="1200" dirty="0"/>
          </a:p>
        </p:txBody>
      </p:sp>
      <p:sp>
        <p:nvSpPr>
          <p:cNvPr id="18" name="Takeaway box"/>
          <p:cNvSpPr/>
          <p:nvPr/>
        </p:nvSpPr>
        <p:spPr>
          <a:xfrm>
            <a:off x="457200" y="6144768"/>
            <a:ext cx="11274552" cy="502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akeaway"/>
          <p:cNvSpPr txBox="1"/>
          <p:nvPr/>
        </p:nvSpPr>
        <p:spPr>
          <a:xfrm>
            <a:off x="594360" y="6144768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Takeaway: </a:t>
            </a:r>
            <a:r>
              <a:rPr lang="en-US" sz="1250" dirty="0">
                <a:solidFill>
                  <a:srgbClr val="FFFFFF"/>
                </a:solidFill>
              </a:rPr>
              <a:t>at roughly $10–11+ of wholesale profit per sub, Verizon breaks even once about half of Starlink's subs come from AT&amp;T and T-Mobile; above that mix, hosting Starlink is profitable.</a:t>
            </a:r>
            <a:endParaRPr lang="en-US" sz="125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Source: Verizon 2Q26 financial statements; Bernstein analysis. Breakeven share = 1 − wholesale profit ÷ $22. Compared with Starlink not launching; if a rival hosts instead, Verizon loses those subs regardless.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55600"/>
            <a:ext cx="1127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</a:rPr>
              <a:t>A Starlink MVNO for VZ pays off if most subs come from T &amp; TMUS</a:t>
            </a:r>
          </a:p>
        </p:txBody>
      </p:sp>
      <p:sp>
        <p:nvSpPr>
          <p:cNvPr id="4" name="Column axis label"/>
          <p:cNvSpPr txBox="1"/>
          <p:nvPr/>
        </p:nvSpPr>
        <p:spPr>
          <a:xfrm>
            <a:off x="2590800" y="1270000"/>
            <a:ext cx="914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</a:rPr>
              <a:t>% of Starlink subs coming from AT&amp;T + T-Mobile  →</a:t>
            </a:r>
          </a:p>
        </p:txBody>
      </p:sp>
      <p:graphicFrame>
        <p:nvGraphicFramePr>
          <p:cNvPr id="5" name="Sensitiv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52143"/>
              </p:ext>
            </p:extLst>
          </p:nvPr>
        </p:nvGraphicFramePr>
        <p:xfrm>
          <a:off x="457200" y="1600200"/>
          <a:ext cx="11277600" cy="43942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Verizon wholesale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per sub ($/mo)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($10.4)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($3.8)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($9.4)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($2.8)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A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2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B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($1.8)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6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($7.4)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2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3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($0.8)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A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D5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($6.4)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A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A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7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9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2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D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5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9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8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9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D2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B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C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4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D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6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F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8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A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3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5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E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7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D0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8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9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E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3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5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Source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</a:rPr>
              <a:t>Source: Verizon filings, Bernstein analysis</a:t>
            </a:r>
          </a:p>
        </p:txBody>
      </p:sp>
      <p:sp>
        <p:nvSpPr>
          <p:cNvPr id="40" name="Takeaway"/>
          <p:cNvSpPr txBox="1"/>
          <p:nvPr/>
        </p:nvSpPr>
        <p:spPr>
          <a:xfrm>
            <a:off x="457200" y="8382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At ~$11+ wholesale, Verizon wins once half of Starlink's subs come from rivals</a:t>
            </a:r>
          </a:p>
        </p:txBody>
      </p:sp>
      <p:sp>
        <p:nvSpPr>
          <p:cNvPr id="41" name="Legend"/>
          <p:cNvSpPr txBox="1"/>
          <p:nvPr/>
        </p:nvSpPr>
        <p:spPr>
          <a:xfrm>
            <a:off x="457200" y="6070600"/>
            <a:ext cx="112776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</a:rPr>
              <a:t>Green = profit · Red = loss · Cells = Verizon net profit per Starlink sub ($/mo)</a:t>
            </a:r>
          </a:p>
        </p:txBody>
      </p:sp>
      <p:sp>
        <p:nvSpPr>
          <p:cNvPr id="42" name="Assumption"/>
          <p:cNvSpPr txBox="1"/>
          <p:nvPr/>
        </p:nvSpPr>
        <p:spPr>
          <a:xfrm>
            <a:off x="457200" y="6299200"/>
            <a:ext cx="112776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</a:rPr>
              <a:t>Assumes $55 ARPU × 40% margin = $22 profit per Verizon sub</a:t>
            </a:r>
          </a:p>
        </p:txBody>
      </p:sp>
    </p:spTree>
    <p:extLst>
      <p:ext uri="{BB962C8B-B14F-4D97-AF65-F5344CB8AC3E}">
        <p14:creationId xmlns:p14="http://schemas.microsoft.com/office/powerpoint/2010/main" val="1708590607"/>
      </p:ext>
    </p:extLst>
  </p:cSld>
  <p:clrMapOvr>
    <a:masterClrMapping/>
  </p:clrMapOvr>
</p:sld>
</file>

<file path=ppt/theme/theme1.xml><?xml version="1.0" encoding="utf-8"?>
<a:theme xmlns:a="http://schemas.openxmlformats.org/drawingml/2006/main" name="Bernstein Exhibit">
  <a:themeElements>
    <a:clrScheme name="Bernstein Exhibit">
      <a:dk1>
        <a:srgbClr val="1A1A1A"/>
      </a:dk1>
      <a:lt1>
        <a:srgbClr val="FFFFFF"/>
      </a:lt1>
      <a:dk2>
        <a:srgbClr val="1F2A44"/>
      </a:dk2>
      <a:lt2>
        <a:srgbClr val="F2F2F2"/>
      </a:lt2>
      <a:accent1>
        <a:srgbClr val="1F2A44"/>
      </a:accent1>
      <a:accent2>
        <a:srgbClr val="63BE7B"/>
      </a:accent2>
      <a:accent3>
        <a:srgbClr val="F8696B"/>
      </a:accent3>
      <a:accent4>
        <a:srgbClr val="7F7F7F"/>
      </a:accent4>
      <a:accent5>
        <a:srgbClr val="BFBFBF"/>
      </a:accent5>
      <a:accent6>
        <a:srgbClr val="D9D9D9"/>
      </a:accent6>
      <a:hlink>
        <a:srgbClr val="1F2A44"/>
      </a:hlink>
      <a:folHlink>
        <a:srgbClr val="595959"/>
      </a:folHlink>
    </a:clrScheme>
    <a:fontScheme name="Bernstein Exhib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7482EA-B976-4DB4-A16B-B390658694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2e471cc-308b-45b3-8625-10c70e72b1f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1036</Words>
  <Application>Microsoft Office PowerPoint</Application>
  <PresentationFormat>Widescreen</PresentationFormat>
  <Paragraphs>255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Bernstein Exhibit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Verizon Starlink MVNO sensitivity</dc:title>
  <dc:subject>PptxGenJS Presentation</dc:subject>
  <dc:creator>PptxGenJS</dc:creator>
  <cp:lastModifiedBy>Andrew Chung</cp:lastModifiedBy>
  <cp:revision>2</cp:revision>
  <dcterms:created xsi:type="dcterms:W3CDTF">2026-10-22T23:26:08Z</dcterms:created>
  <dcterms:modified xsi:type="dcterms:W3CDTF">2026-10-22T23:34:42Z</dcterms:modified>
</cp:coreProperties>
</file>